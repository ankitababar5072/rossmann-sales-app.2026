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70" r:id="rId1"/>
  </p:sldMasterIdLst>
  <p:sldIdLst>
    <p:sldId id="256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00" autoAdjust="0"/>
    <p:restoredTop sz="94660"/>
  </p:normalViewPr>
  <p:slideViewPr>
    <p:cSldViewPr snapToGrid="0">
      <p:cViewPr varScale="1">
        <p:scale>
          <a:sx n="68" d="100"/>
          <a:sy n="68" d="100"/>
        </p:scale>
        <p:origin x="816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2_3">
  <dgm:title val=""/>
  <dgm:desc val=""/>
  <dgm:catLst>
    <dgm:cat type="accent2" pri="11300"/>
  </dgm:catLst>
  <dgm:styleLbl name="node0">
    <dgm:fillClrLst meth="repeat">
      <a:schemeClr val="accent2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>
        <a:shade val="80000"/>
      </a:schemeClr>
      <a:schemeClr val="accent2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>
        <a:shade val="80000"/>
      </a:schemeClr>
      <a:schemeClr val="accent2">
        <a:tint val="70000"/>
      </a:schemeClr>
    </dgm:fillClrLst>
    <dgm:linClrLst>
      <a:schemeClr val="accent2">
        <a:shade val="80000"/>
      </a:schemeClr>
      <a:schemeClr val="accent2">
        <a:tint val="70000"/>
      </a:schemeClr>
    </dgm:linClrLst>
    <dgm:effectClrLst/>
    <dgm:txLinClrLst/>
    <dgm:txFillClrLst/>
    <dgm:txEffectClrLst/>
  </dgm:styleLbl>
  <dgm:styleLbl name="lnNode1">
    <dgm:fillClrLst>
      <a:schemeClr val="accent2">
        <a:shade val="80000"/>
      </a:schemeClr>
      <a:schemeClr val="accent2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shade val="80000"/>
        <a:alpha val="50000"/>
      </a:schemeClr>
      <a:schemeClr val="accent2">
        <a:tint val="70000"/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2">
        <a:tint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>
        <a:shade val="90000"/>
      </a:schemeClr>
      <a:schemeClr val="accent2">
        <a:tint val="70000"/>
      </a:schemeClr>
    </dgm:fillClrLst>
    <dgm:linClrLst>
      <a:schemeClr val="accent2">
        <a:shade val="90000"/>
      </a:schemeClr>
      <a:schemeClr val="accent2">
        <a:tint val="70000"/>
      </a:schemeClr>
    </dgm:linClrLst>
    <dgm:effectClrLst/>
    <dgm:txLinClrLst/>
    <dgm:txFillClrLst/>
    <dgm:txEffectClrLst/>
  </dgm:styleLbl>
  <dgm:styleLbl name="fgSibTrans2D1">
    <dgm:fillClrLst>
      <a:schemeClr val="accent2">
        <a:shade val="90000"/>
      </a:schemeClr>
      <a:schemeClr val="accent2">
        <a:tint val="70000"/>
      </a:schemeClr>
    </dgm:fillClrLst>
    <dgm:linClrLst>
      <a:schemeClr val="accent2">
        <a:shade val="90000"/>
      </a:schemeClr>
      <a:schemeClr val="accent2">
        <a:tint val="70000"/>
      </a:schemeClr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>
        <a:shade val="90000"/>
      </a:schemeClr>
      <a:schemeClr val="accent2">
        <a:tint val="70000"/>
      </a:schemeClr>
    </dgm:fillClrLst>
    <dgm:linClrLst>
      <a:schemeClr val="accent2">
        <a:shade val="90000"/>
      </a:schemeClr>
      <a:schemeClr val="accent2">
        <a:tint val="70000"/>
      </a:schemeClr>
    </dgm:linClrLst>
    <dgm:effectClrLst/>
    <dgm:txLinClrLst/>
    <dgm:txFillClrLst meth="repeat">
      <a:schemeClr val="lt1"/>
    </dgm:txFillClrLst>
    <dgm:txEffectClrLst/>
  </dgm:styleLbl>
  <dgm:styleLbl name="sibTrans1D1">
    <dgm:fillClrLst>
      <a:schemeClr val="accent2">
        <a:shade val="90000"/>
      </a:schemeClr>
      <a:schemeClr val="accent2">
        <a:tint val="70000"/>
      </a:schemeClr>
    </dgm:fillClrLst>
    <dgm:linClrLst>
      <a:schemeClr val="accent2">
        <a:shade val="90000"/>
      </a:schemeClr>
      <a:schemeClr val="accent2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2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>
        <a:tint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2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2">
        <a:tint val="90000"/>
      </a:schemeClr>
    </dgm:fillClrLst>
    <dgm:linClrLst meth="repeat">
      <a:schemeClr val="accent2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2">
        <a:tint val="70000"/>
      </a:schemeClr>
    </dgm:fillClrLst>
    <dgm:linClrLst meth="repeat">
      <a:schemeClr val="accent2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2">
        <a:tint val="50000"/>
      </a:schemeClr>
    </dgm:fillClrLst>
    <dgm:linClrLst meth="repeat">
      <a:schemeClr val="accent2">
        <a:tint val="50000"/>
      </a:schemeClr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>
        <a:shade val="80000"/>
      </a:schemeClr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9000"/>
      </a:schemeClr>
    </dgm:fillClrLst>
    <dgm:linClrLst meth="repeat">
      <a:schemeClr val="accent2">
        <a:tint val="99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80000"/>
      </a:schemeClr>
    </dgm:fillClrLst>
    <dgm:linClrLst meth="repeat">
      <a:schemeClr val="accent2">
        <a:tint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70000"/>
      </a:schemeClr>
    </dgm:fillClrLst>
    <dgm:linClrLst meth="repeat">
      <a:schemeClr val="accent2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>
        <a:shade val="80000"/>
      </a:schemeClr>
      <a:schemeClr val="accent2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>
        <a:shade val="80000"/>
      </a:schemeClr>
      <a:schemeClr val="accent2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>
        <a:shade val="80000"/>
      </a:schemeClr>
      <a:schemeClr val="accent2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>
        <a:shade val="80000"/>
      </a:schemeClr>
      <a:schemeClr val="accent2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>
        <a:shade val="80000"/>
      </a:schemeClr>
      <a:schemeClr val="accent2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>
        <a:tint val="99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>
        <a:tint val="8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5E01992F-46DB-4F96-9C1B-F793BE87BF9B}" type="doc">
      <dgm:prSet loTypeId="urn:microsoft.com/office/officeart/2005/8/layout/process1" loCatId="process" qsTypeId="urn:microsoft.com/office/officeart/2005/8/quickstyle/simple1" qsCatId="simple" csTypeId="urn:microsoft.com/office/officeart/2005/8/colors/accent2_3" csCatId="accent2" phldr="1"/>
      <dgm:spPr/>
    </dgm:pt>
    <dgm:pt modelId="{0F5B594B-FFB1-448C-A9E5-1FF6297C643D}">
      <dgm:prSet phldrT="[Text]"/>
      <dgm:spPr/>
      <dgm:t>
        <a:bodyPr/>
        <a:lstStyle/>
        <a:p>
          <a:pPr>
            <a:buNone/>
          </a:pPr>
          <a:r>
            <a:rPr lang="en-US" dirty="0"/>
            <a:t>CSV Upload</a:t>
          </a:r>
        </a:p>
      </dgm:t>
    </dgm:pt>
    <dgm:pt modelId="{92680F0A-E0CD-421E-B56A-23215CFCCFDD}" type="parTrans" cxnId="{579AF066-3A2A-425E-B3E9-37EB6F64FCA2}">
      <dgm:prSet/>
      <dgm:spPr/>
      <dgm:t>
        <a:bodyPr/>
        <a:lstStyle/>
        <a:p>
          <a:endParaRPr lang="en-US"/>
        </a:p>
      </dgm:t>
    </dgm:pt>
    <dgm:pt modelId="{F590C632-936D-4BF0-9F22-7F4EC87B10FD}" type="sibTrans" cxnId="{579AF066-3A2A-425E-B3E9-37EB6F64FCA2}">
      <dgm:prSet/>
      <dgm:spPr/>
      <dgm:t>
        <a:bodyPr/>
        <a:lstStyle/>
        <a:p>
          <a:endParaRPr lang="en-US"/>
        </a:p>
      </dgm:t>
    </dgm:pt>
    <dgm:pt modelId="{4078095A-6352-4B08-9798-A879EA4303AB}">
      <dgm:prSet phldrT="[Text]"/>
      <dgm:spPr/>
      <dgm:t>
        <a:bodyPr/>
        <a:lstStyle/>
        <a:p>
          <a:pPr>
            <a:buNone/>
          </a:pPr>
          <a:r>
            <a:rPr lang="en-US" dirty="0"/>
            <a:t>Data Preprocessing</a:t>
          </a:r>
        </a:p>
      </dgm:t>
    </dgm:pt>
    <dgm:pt modelId="{A6C5A993-0181-4CD7-873E-21F35307206D}" type="parTrans" cxnId="{D0EF676D-D7E9-49CC-BCB1-50F1F57F5979}">
      <dgm:prSet/>
      <dgm:spPr/>
      <dgm:t>
        <a:bodyPr/>
        <a:lstStyle/>
        <a:p>
          <a:endParaRPr lang="en-US"/>
        </a:p>
      </dgm:t>
    </dgm:pt>
    <dgm:pt modelId="{6069D3C4-9E19-47E5-B2E8-81F8D080775F}" type="sibTrans" cxnId="{D0EF676D-D7E9-49CC-BCB1-50F1F57F5979}">
      <dgm:prSet/>
      <dgm:spPr/>
      <dgm:t>
        <a:bodyPr/>
        <a:lstStyle/>
        <a:p>
          <a:endParaRPr lang="en-US"/>
        </a:p>
      </dgm:t>
    </dgm:pt>
    <dgm:pt modelId="{B2BAEC54-0C5B-4714-91E6-7AC97CAE0D6A}">
      <dgm:prSet phldrT="[Text]"/>
      <dgm:spPr/>
      <dgm:t>
        <a:bodyPr/>
        <a:lstStyle/>
        <a:p>
          <a:pPr>
            <a:buNone/>
          </a:pPr>
          <a:r>
            <a:rPr lang="en-US" dirty="0"/>
            <a:t>Download Output</a:t>
          </a:r>
        </a:p>
      </dgm:t>
    </dgm:pt>
    <dgm:pt modelId="{2FA0D2EC-73FC-4BBD-AD7D-4206291B92EA}" type="parTrans" cxnId="{A57F0A52-26B0-4925-B181-0BD6A0F84533}">
      <dgm:prSet/>
      <dgm:spPr/>
      <dgm:t>
        <a:bodyPr/>
        <a:lstStyle/>
        <a:p>
          <a:endParaRPr lang="en-US"/>
        </a:p>
      </dgm:t>
    </dgm:pt>
    <dgm:pt modelId="{F6F84D83-D1AA-46D6-902F-C5F0CCB88AB1}" type="sibTrans" cxnId="{A57F0A52-26B0-4925-B181-0BD6A0F84533}">
      <dgm:prSet/>
      <dgm:spPr/>
      <dgm:t>
        <a:bodyPr/>
        <a:lstStyle/>
        <a:p>
          <a:endParaRPr lang="en-US"/>
        </a:p>
      </dgm:t>
    </dgm:pt>
    <dgm:pt modelId="{7B2B7564-B597-4428-AD36-B05CE2B6ED4A}">
      <dgm:prSet/>
      <dgm:spPr/>
      <dgm:t>
        <a:bodyPr/>
        <a:lstStyle/>
        <a:p>
          <a:pPr>
            <a:buNone/>
          </a:pPr>
          <a:r>
            <a:rPr lang="en-US" dirty="0"/>
            <a:t>Model Prediction</a:t>
          </a:r>
        </a:p>
      </dgm:t>
    </dgm:pt>
    <dgm:pt modelId="{7542353F-5AC8-4EF7-AAFA-A3BB2288FA73}" type="parTrans" cxnId="{6FF06FE2-8F10-49C9-95E9-BB672C570719}">
      <dgm:prSet/>
      <dgm:spPr/>
      <dgm:t>
        <a:bodyPr/>
        <a:lstStyle/>
        <a:p>
          <a:endParaRPr lang="en-US"/>
        </a:p>
      </dgm:t>
    </dgm:pt>
    <dgm:pt modelId="{F02B983C-C4EF-4F1B-AD42-C0CB747E6CB9}" type="sibTrans" cxnId="{6FF06FE2-8F10-49C9-95E9-BB672C570719}">
      <dgm:prSet/>
      <dgm:spPr/>
      <dgm:t>
        <a:bodyPr/>
        <a:lstStyle/>
        <a:p>
          <a:endParaRPr lang="en-US"/>
        </a:p>
      </dgm:t>
    </dgm:pt>
    <dgm:pt modelId="{4A4C0856-A84A-43B4-A075-8256C213DBC6}">
      <dgm:prSet/>
      <dgm:spPr/>
      <dgm:t>
        <a:bodyPr/>
        <a:lstStyle/>
        <a:p>
          <a:pPr>
            <a:buNone/>
          </a:pPr>
          <a:r>
            <a:rPr lang="en-US"/>
            <a:t>Visualization</a:t>
          </a:r>
        </a:p>
      </dgm:t>
    </dgm:pt>
    <dgm:pt modelId="{D1FB7A8E-6A73-4008-9D7B-5165C975A91A}" type="parTrans" cxnId="{38C313E3-9800-4936-B0F9-2FB33EF647AA}">
      <dgm:prSet/>
      <dgm:spPr/>
      <dgm:t>
        <a:bodyPr/>
        <a:lstStyle/>
        <a:p>
          <a:endParaRPr lang="en-US"/>
        </a:p>
      </dgm:t>
    </dgm:pt>
    <dgm:pt modelId="{5221C25A-9C42-4702-80B3-DE62DFC13CE5}" type="sibTrans" cxnId="{38C313E3-9800-4936-B0F9-2FB33EF647AA}">
      <dgm:prSet/>
      <dgm:spPr/>
      <dgm:t>
        <a:bodyPr/>
        <a:lstStyle/>
        <a:p>
          <a:endParaRPr lang="en-US"/>
        </a:p>
      </dgm:t>
    </dgm:pt>
    <dgm:pt modelId="{5C572FC7-F44F-42CE-AB7C-CE380B065A82}" type="pres">
      <dgm:prSet presAssocID="{5E01992F-46DB-4F96-9C1B-F793BE87BF9B}" presName="Name0" presStyleCnt="0">
        <dgm:presLayoutVars>
          <dgm:dir/>
          <dgm:resizeHandles val="exact"/>
        </dgm:presLayoutVars>
      </dgm:prSet>
      <dgm:spPr/>
    </dgm:pt>
    <dgm:pt modelId="{842B7112-7564-4AF7-A93D-05586D1C03BB}" type="pres">
      <dgm:prSet presAssocID="{0F5B594B-FFB1-448C-A9E5-1FF6297C643D}" presName="node" presStyleLbl="node1" presStyleIdx="0" presStyleCnt="5">
        <dgm:presLayoutVars>
          <dgm:bulletEnabled val="1"/>
        </dgm:presLayoutVars>
      </dgm:prSet>
      <dgm:spPr/>
    </dgm:pt>
    <dgm:pt modelId="{4AFD803F-FDB0-441F-93DD-092854EAECC8}" type="pres">
      <dgm:prSet presAssocID="{F590C632-936D-4BF0-9F22-7F4EC87B10FD}" presName="sibTrans" presStyleLbl="sibTrans2D1" presStyleIdx="0" presStyleCnt="4"/>
      <dgm:spPr/>
    </dgm:pt>
    <dgm:pt modelId="{A14C8339-E7A8-42D5-B6C3-F06D265EEC4E}" type="pres">
      <dgm:prSet presAssocID="{F590C632-936D-4BF0-9F22-7F4EC87B10FD}" presName="connectorText" presStyleLbl="sibTrans2D1" presStyleIdx="0" presStyleCnt="4"/>
      <dgm:spPr/>
    </dgm:pt>
    <dgm:pt modelId="{DD58A282-125B-4E19-80E4-77C20D90754F}" type="pres">
      <dgm:prSet presAssocID="{4078095A-6352-4B08-9798-A879EA4303AB}" presName="node" presStyleLbl="node1" presStyleIdx="1" presStyleCnt="5">
        <dgm:presLayoutVars>
          <dgm:bulletEnabled val="1"/>
        </dgm:presLayoutVars>
      </dgm:prSet>
      <dgm:spPr/>
    </dgm:pt>
    <dgm:pt modelId="{76D118D9-1093-42ED-849B-E83298E45C42}" type="pres">
      <dgm:prSet presAssocID="{6069D3C4-9E19-47E5-B2E8-81F8D080775F}" presName="sibTrans" presStyleLbl="sibTrans2D1" presStyleIdx="1" presStyleCnt="4" custFlipHor="0" custScaleX="17894" custLinFactNeighborX="-82042" custLinFactNeighborY="3819"/>
      <dgm:spPr/>
    </dgm:pt>
    <dgm:pt modelId="{10598CF2-4B73-4B42-A71F-0E0E913B037B}" type="pres">
      <dgm:prSet presAssocID="{6069D3C4-9E19-47E5-B2E8-81F8D080775F}" presName="connectorText" presStyleLbl="sibTrans2D1" presStyleIdx="1" presStyleCnt="4"/>
      <dgm:spPr/>
    </dgm:pt>
    <dgm:pt modelId="{407C02CB-1259-48E7-A904-E0D4B78EEE0E}" type="pres">
      <dgm:prSet presAssocID="{B2BAEC54-0C5B-4714-91E6-7AC97CAE0D6A}" presName="node" presStyleLbl="node1" presStyleIdx="2" presStyleCnt="5" custLinFactX="156765" custLinFactNeighborX="200000" custLinFactNeighborY="2076">
        <dgm:presLayoutVars>
          <dgm:bulletEnabled val="1"/>
        </dgm:presLayoutVars>
      </dgm:prSet>
      <dgm:spPr/>
    </dgm:pt>
    <dgm:pt modelId="{B9FD71E8-14F4-43AB-95F6-28E55AF2131B}" type="pres">
      <dgm:prSet presAssocID="{F6F84D83-D1AA-46D6-902F-C5F0CCB88AB1}" presName="sibTrans" presStyleLbl="sibTrans2D1" presStyleIdx="2" presStyleCnt="4" custFlipHor="1" custScaleX="69816"/>
      <dgm:spPr/>
    </dgm:pt>
    <dgm:pt modelId="{7DC6F661-C665-4061-A18F-FDED87031F17}" type="pres">
      <dgm:prSet presAssocID="{F6F84D83-D1AA-46D6-902F-C5F0CCB88AB1}" presName="connectorText" presStyleLbl="sibTrans2D1" presStyleIdx="2" presStyleCnt="4"/>
      <dgm:spPr/>
    </dgm:pt>
    <dgm:pt modelId="{7A8F32AB-1280-4F5C-8174-0B38CFAA68F5}" type="pres">
      <dgm:prSet presAssocID="{4A4C0856-A84A-43B4-A075-8256C213DBC6}" presName="node" presStyleLbl="node1" presStyleIdx="3" presStyleCnt="5">
        <dgm:presLayoutVars>
          <dgm:bulletEnabled val="1"/>
        </dgm:presLayoutVars>
      </dgm:prSet>
      <dgm:spPr/>
    </dgm:pt>
    <dgm:pt modelId="{1922C30D-8AF5-4448-B622-E24230C354EA}" type="pres">
      <dgm:prSet presAssocID="{5221C25A-9C42-4702-80B3-DE62DFC13CE5}" presName="sibTrans" presStyleLbl="sibTrans2D1" presStyleIdx="3" presStyleCnt="4" custFlipHor="1" custScaleX="90202" custScaleY="108484" custLinFactNeighborX="12967" custLinFactNeighborY="7235"/>
      <dgm:spPr/>
    </dgm:pt>
    <dgm:pt modelId="{4613417A-3390-422D-AEC2-2FB33986F6DD}" type="pres">
      <dgm:prSet presAssocID="{5221C25A-9C42-4702-80B3-DE62DFC13CE5}" presName="connectorText" presStyleLbl="sibTrans2D1" presStyleIdx="3" presStyleCnt="4"/>
      <dgm:spPr/>
    </dgm:pt>
    <dgm:pt modelId="{78479C55-CDD2-4B19-A0C3-BD2939FBCFB2}" type="pres">
      <dgm:prSet presAssocID="{7B2B7564-B597-4428-AD36-B05CE2B6ED4A}" presName="node" presStyleLbl="node1" presStyleIdx="4" presStyleCnt="5" custScaleY="95896" custLinFactX="-185996" custLinFactNeighborX="-200000" custLinFactNeighborY="3535">
        <dgm:presLayoutVars>
          <dgm:bulletEnabled val="1"/>
        </dgm:presLayoutVars>
      </dgm:prSet>
      <dgm:spPr/>
    </dgm:pt>
  </dgm:ptLst>
  <dgm:cxnLst>
    <dgm:cxn modelId="{530F2B1A-5392-45C0-A10D-56EAB0D0AD19}" type="presOf" srcId="{4078095A-6352-4B08-9798-A879EA4303AB}" destId="{DD58A282-125B-4E19-80E4-77C20D90754F}" srcOrd="0" destOrd="0" presId="urn:microsoft.com/office/officeart/2005/8/layout/process1"/>
    <dgm:cxn modelId="{C20FF934-56E2-45CC-8FD4-17BF337228F7}" type="presOf" srcId="{6069D3C4-9E19-47E5-B2E8-81F8D080775F}" destId="{76D118D9-1093-42ED-849B-E83298E45C42}" srcOrd="0" destOrd="0" presId="urn:microsoft.com/office/officeart/2005/8/layout/process1"/>
    <dgm:cxn modelId="{ACDA283C-571D-48D4-A1B1-93FF2888F4D2}" type="presOf" srcId="{5221C25A-9C42-4702-80B3-DE62DFC13CE5}" destId="{4613417A-3390-422D-AEC2-2FB33986F6DD}" srcOrd="1" destOrd="0" presId="urn:microsoft.com/office/officeart/2005/8/layout/process1"/>
    <dgm:cxn modelId="{F7940B40-E184-4494-AD28-5791010DD268}" type="presOf" srcId="{5E01992F-46DB-4F96-9C1B-F793BE87BF9B}" destId="{5C572FC7-F44F-42CE-AB7C-CE380B065A82}" srcOrd="0" destOrd="0" presId="urn:microsoft.com/office/officeart/2005/8/layout/process1"/>
    <dgm:cxn modelId="{C7691966-E8E4-4299-A6D1-1AA5034CF5EE}" type="presOf" srcId="{F6F84D83-D1AA-46D6-902F-C5F0CCB88AB1}" destId="{7DC6F661-C665-4061-A18F-FDED87031F17}" srcOrd="1" destOrd="0" presId="urn:microsoft.com/office/officeart/2005/8/layout/process1"/>
    <dgm:cxn modelId="{B5B36346-1174-4E65-94C9-8A50F86059BF}" type="presOf" srcId="{F590C632-936D-4BF0-9F22-7F4EC87B10FD}" destId="{4AFD803F-FDB0-441F-93DD-092854EAECC8}" srcOrd="0" destOrd="0" presId="urn:microsoft.com/office/officeart/2005/8/layout/process1"/>
    <dgm:cxn modelId="{579AF066-3A2A-425E-B3E9-37EB6F64FCA2}" srcId="{5E01992F-46DB-4F96-9C1B-F793BE87BF9B}" destId="{0F5B594B-FFB1-448C-A9E5-1FF6297C643D}" srcOrd="0" destOrd="0" parTransId="{92680F0A-E0CD-421E-B56A-23215CFCCFDD}" sibTransId="{F590C632-936D-4BF0-9F22-7F4EC87B10FD}"/>
    <dgm:cxn modelId="{DD78584A-C20D-4333-9242-8DBF61E85732}" type="presOf" srcId="{6069D3C4-9E19-47E5-B2E8-81F8D080775F}" destId="{10598CF2-4B73-4B42-A71F-0E0E913B037B}" srcOrd="1" destOrd="0" presId="urn:microsoft.com/office/officeart/2005/8/layout/process1"/>
    <dgm:cxn modelId="{D0EF676D-D7E9-49CC-BCB1-50F1F57F5979}" srcId="{5E01992F-46DB-4F96-9C1B-F793BE87BF9B}" destId="{4078095A-6352-4B08-9798-A879EA4303AB}" srcOrd="1" destOrd="0" parTransId="{A6C5A993-0181-4CD7-873E-21F35307206D}" sibTransId="{6069D3C4-9E19-47E5-B2E8-81F8D080775F}"/>
    <dgm:cxn modelId="{A57F0A52-26B0-4925-B181-0BD6A0F84533}" srcId="{5E01992F-46DB-4F96-9C1B-F793BE87BF9B}" destId="{B2BAEC54-0C5B-4714-91E6-7AC97CAE0D6A}" srcOrd="2" destOrd="0" parTransId="{2FA0D2EC-73FC-4BBD-AD7D-4206291B92EA}" sibTransId="{F6F84D83-D1AA-46D6-902F-C5F0CCB88AB1}"/>
    <dgm:cxn modelId="{670FD27F-0FC9-4601-82C7-7931AD2D8DD3}" type="presOf" srcId="{F6F84D83-D1AA-46D6-902F-C5F0CCB88AB1}" destId="{B9FD71E8-14F4-43AB-95F6-28E55AF2131B}" srcOrd="0" destOrd="0" presId="urn:microsoft.com/office/officeart/2005/8/layout/process1"/>
    <dgm:cxn modelId="{7F18DE8D-8470-444C-9FB9-FB71CDB5EFA3}" type="presOf" srcId="{B2BAEC54-0C5B-4714-91E6-7AC97CAE0D6A}" destId="{407C02CB-1259-48E7-A904-E0D4B78EEE0E}" srcOrd="0" destOrd="0" presId="urn:microsoft.com/office/officeart/2005/8/layout/process1"/>
    <dgm:cxn modelId="{A0D71BC6-2672-4041-A713-A7825DEA2F1C}" type="presOf" srcId="{5221C25A-9C42-4702-80B3-DE62DFC13CE5}" destId="{1922C30D-8AF5-4448-B622-E24230C354EA}" srcOrd="0" destOrd="0" presId="urn:microsoft.com/office/officeart/2005/8/layout/process1"/>
    <dgm:cxn modelId="{7FA315CF-1DEA-49F1-B376-D429D18ED806}" type="presOf" srcId="{F590C632-936D-4BF0-9F22-7F4EC87B10FD}" destId="{A14C8339-E7A8-42D5-B6C3-F06D265EEC4E}" srcOrd="1" destOrd="0" presId="urn:microsoft.com/office/officeart/2005/8/layout/process1"/>
    <dgm:cxn modelId="{6FF06FE2-8F10-49C9-95E9-BB672C570719}" srcId="{5E01992F-46DB-4F96-9C1B-F793BE87BF9B}" destId="{7B2B7564-B597-4428-AD36-B05CE2B6ED4A}" srcOrd="4" destOrd="0" parTransId="{7542353F-5AC8-4EF7-AAFA-A3BB2288FA73}" sibTransId="{F02B983C-C4EF-4F1B-AD42-C0CB747E6CB9}"/>
    <dgm:cxn modelId="{38C313E3-9800-4936-B0F9-2FB33EF647AA}" srcId="{5E01992F-46DB-4F96-9C1B-F793BE87BF9B}" destId="{4A4C0856-A84A-43B4-A075-8256C213DBC6}" srcOrd="3" destOrd="0" parTransId="{D1FB7A8E-6A73-4008-9D7B-5165C975A91A}" sibTransId="{5221C25A-9C42-4702-80B3-DE62DFC13CE5}"/>
    <dgm:cxn modelId="{5BC7BCF7-556F-4B2E-ACA0-6EA63E81CA8C}" type="presOf" srcId="{7B2B7564-B597-4428-AD36-B05CE2B6ED4A}" destId="{78479C55-CDD2-4B19-A0C3-BD2939FBCFB2}" srcOrd="0" destOrd="0" presId="urn:microsoft.com/office/officeart/2005/8/layout/process1"/>
    <dgm:cxn modelId="{192685FB-F1AF-4689-9418-179A83C346BB}" type="presOf" srcId="{4A4C0856-A84A-43B4-A075-8256C213DBC6}" destId="{7A8F32AB-1280-4F5C-8174-0B38CFAA68F5}" srcOrd="0" destOrd="0" presId="urn:microsoft.com/office/officeart/2005/8/layout/process1"/>
    <dgm:cxn modelId="{55EDF5FF-B9D5-4DF1-873A-B11D8FB09D7C}" type="presOf" srcId="{0F5B594B-FFB1-448C-A9E5-1FF6297C643D}" destId="{842B7112-7564-4AF7-A93D-05586D1C03BB}" srcOrd="0" destOrd="0" presId="urn:microsoft.com/office/officeart/2005/8/layout/process1"/>
    <dgm:cxn modelId="{18DC27DE-B90B-4BF0-B5E7-B94B3D06A283}" type="presParOf" srcId="{5C572FC7-F44F-42CE-AB7C-CE380B065A82}" destId="{842B7112-7564-4AF7-A93D-05586D1C03BB}" srcOrd="0" destOrd="0" presId="urn:microsoft.com/office/officeart/2005/8/layout/process1"/>
    <dgm:cxn modelId="{A9B092F0-BC1D-44D6-8FC1-3988842F0B24}" type="presParOf" srcId="{5C572FC7-F44F-42CE-AB7C-CE380B065A82}" destId="{4AFD803F-FDB0-441F-93DD-092854EAECC8}" srcOrd="1" destOrd="0" presId="urn:microsoft.com/office/officeart/2005/8/layout/process1"/>
    <dgm:cxn modelId="{F20884E4-A609-4B7C-B799-436447C857CE}" type="presParOf" srcId="{4AFD803F-FDB0-441F-93DD-092854EAECC8}" destId="{A14C8339-E7A8-42D5-B6C3-F06D265EEC4E}" srcOrd="0" destOrd="0" presId="urn:microsoft.com/office/officeart/2005/8/layout/process1"/>
    <dgm:cxn modelId="{B16F5DFA-FD98-47DC-A9DE-DE4CCB08ED61}" type="presParOf" srcId="{5C572FC7-F44F-42CE-AB7C-CE380B065A82}" destId="{DD58A282-125B-4E19-80E4-77C20D90754F}" srcOrd="2" destOrd="0" presId="urn:microsoft.com/office/officeart/2005/8/layout/process1"/>
    <dgm:cxn modelId="{2A1461FB-5BB4-4972-9B49-D2130CF95435}" type="presParOf" srcId="{5C572FC7-F44F-42CE-AB7C-CE380B065A82}" destId="{76D118D9-1093-42ED-849B-E83298E45C42}" srcOrd="3" destOrd="0" presId="urn:microsoft.com/office/officeart/2005/8/layout/process1"/>
    <dgm:cxn modelId="{1E94F7D3-7B94-4C0B-9B62-765D53D5E34F}" type="presParOf" srcId="{76D118D9-1093-42ED-849B-E83298E45C42}" destId="{10598CF2-4B73-4B42-A71F-0E0E913B037B}" srcOrd="0" destOrd="0" presId="urn:microsoft.com/office/officeart/2005/8/layout/process1"/>
    <dgm:cxn modelId="{3977417C-44EF-4F55-A842-22DA9BA3AC86}" type="presParOf" srcId="{5C572FC7-F44F-42CE-AB7C-CE380B065A82}" destId="{407C02CB-1259-48E7-A904-E0D4B78EEE0E}" srcOrd="4" destOrd="0" presId="urn:microsoft.com/office/officeart/2005/8/layout/process1"/>
    <dgm:cxn modelId="{C5C2840F-9197-4D79-9A2F-1C4DA909314B}" type="presParOf" srcId="{5C572FC7-F44F-42CE-AB7C-CE380B065A82}" destId="{B9FD71E8-14F4-43AB-95F6-28E55AF2131B}" srcOrd="5" destOrd="0" presId="urn:microsoft.com/office/officeart/2005/8/layout/process1"/>
    <dgm:cxn modelId="{7509A4EF-CF25-4159-885F-777217C9EF53}" type="presParOf" srcId="{B9FD71E8-14F4-43AB-95F6-28E55AF2131B}" destId="{7DC6F661-C665-4061-A18F-FDED87031F17}" srcOrd="0" destOrd="0" presId="urn:microsoft.com/office/officeart/2005/8/layout/process1"/>
    <dgm:cxn modelId="{B10C1E60-FB56-48B7-9F90-92C1DAD4B031}" type="presParOf" srcId="{5C572FC7-F44F-42CE-AB7C-CE380B065A82}" destId="{7A8F32AB-1280-4F5C-8174-0B38CFAA68F5}" srcOrd="6" destOrd="0" presId="urn:microsoft.com/office/officeart/2005/8/layout/process1"/>
    <dgm:cxn modelId="{AC091DC5-19D4-4BD8-A68C-27B202576A82}" type="presParOf" srcId="{5C572FC7-F44F-42CE-AB7C-CE380B065A82}" destId="{1922C30D-8AF5-4448-B622-E24230C354EA}" srcOrd="7" destOrd="0" presId="urn:microsoft.com/office/officeart/2005/8/layout/process1"/>
    <dgm:cxn modelId="{766A525A-1F59-4A88-921B-488B205E2DF0}" type="presParOf" srcId="{1922C30D-8AF5-4448-B622-E24230C354EA}" destId="{4613417A-3390-422D-AEC2-2FB33986F6DD}" srcOrd="0" destOrd="0" presId="urn:microsoft.com/office/officeart/2005/8/layout/process1"/>
    <dgm:cxn modelId="{34E680B0-3225-49DA-96ED-683BC9073C9C}" type="presParOf" srcId="{5C572FC7-F44F-42CE-AB7C-CE380B065A82}" destId="{78479C55-CDD2-4B19-A0C3-BD2939FBCFB2}" srcOrd="8" destOrd="0" presId="urn:microsoft.com/office/officeart/2005/8/layout/process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42B7112-7564-4AF7-A93D-05586D1C03BB}">
      <dsp:nvSpPr>
        <dsp:cNvPr id="0" name=""/>
        <dsp:cNvSpPr/>
      </dsp:nvSpPr>
      <dsp:spPr>
        <a:xfrm>
          <a:off x="5058" y="1080531"/>
          <a:ext cx="1568186" cy="940911"/>
        </a:xfrm>
        <a:prstGeom prst="roundRect">
          <a:avLst>
            <a:gd name="adj" fmla="val 10000"/>
          </a:avLst>
        </a:prstGeom>
        <a:solidFill>
          <a:schemeClr val="accent2">
            <a:shade val="8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 dirty="0"/>
            <a:t>CSV Upload</a:t>
          </a:r>
        </a:p>
      </dsp:txBody>
      <dsp:txXfrm>
        <a:off x="32616" y="1108089"/>
        <a:ext cx="1513070" cy="885795"/>
      </dsp:txXfrm>
    </dsp:sp>
    <dsp:sp modelId="{4AFD803F-FDB0-441F-93DD-092854EAECC8}">
      <dsp:nvSpPr>
        <dsp:cNvPr id="0" name=""/>
        <dsp:cNvSpPr/>
      </dsp:nvSpPr>
      <dsp:spPr>
        <a:xfrm>
          <a:off x="1730063" y="1356532"/>
          <a:ext cx="332455" cy="388910"/>
        </a:xfrm>
        <a:prstGeom prst="rightArrow">
          <a:avLst>
            <a:gd name="adj1" fmla="val 60000"/>
            <a:gd name="adj2" fmla="val 50000"/>
          </a:avLst>
        </a:prstGeom>
        <a:solidFill>
          <a:schemeClr val="accent2">
            <a:shade val="9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500" kern="1200"/>
        </a:p>
      </dsp:txBody>
      <dsp:txXfrm>
        <a:off x="1730063" y="1434314"/>
        <a:ext cx="232719" cy="233346"/>
      </dsp:txXfrm>
    </dsp:sp>
    <dsp:sp modelId="{DD58A282-125B-4E19-80E4-77C20D90754F}">
      <dsp:nvSpPr>
        <dsp:cNvPr id="0" name=""/>
        <dsp:cNvSpPr/>
      </dsp:nvSpPr>
      <dsp:spPr>
        <a:xfrm>
          <a:off x="2200519" y="1080531"/>
          <a:ext cx="1568186" cy="940911"/>
        </a:xfrm>
        <a:prstGeom prst="roundRect">
          <a:avLst>
            <a:gd name="adj" fmla="val 10000"/>
          </a:avLst>
        </a:prstGeom>
        <a:solidFill>
          <a:schemeClr val="accent2">
            <a:shade val="80000"/>
            <a:hueOff val="8289"/>
            <a:satOff val="415"/>
            <a:lumOff val="4688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 dirty="0"/>
            <a:t>Data Preprocessing</a:t>
          </a:r>
        </a:p>
      </dsp:txBody>
      <dsp:txXfrm>
        <a:off x="2228077" y="1108089"/>
        <a:ext cx="1513070" cy="885795"/>
      </dsp:txXfrm>
    </dsp:sp>
    <dsp:sp modelId="{76D118D9-1093-42ED-849B-E83298E45C42}">
      <dsp:nvSpPr>
        <dsp:cNvPr id="0" name=""/>
        <dsp:cNvSpPr/>
      </dsp:nvSpPr>
      <dsp:spPr>
        <a:xfrm rot="10410">
          <a:off x="3928639" y="1381373"/>
          <a:ext cx="463056" cy="388910"/>
        </a:xfrm>
        <a:prstGeom prst="rightArrow">
          <a:avLst>
            <a:gd name="adj1" fmla="val 60000"/>
            <a:gd name="adj2" fmla="val 50000"/>
          </a:avLst>
        </a:prstGeom>
        <a:solidFill>
          <a:schemeClr val="accent2">
            <a:shade val="90000"/>
            <a:hueOff val="11041"/>
            <a:satOff val="6"/>
            <a:lumOff val="516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500" kern="1200"/>
        </a:p>
      </dsp:txBody>
      <dsp:txXfrm>
        <a:off x="3928639" y="1458978"/>
        <a:ext cx="346383" cy="233346"/>
      </dsp:txXfrm>
    </dsp:sp>
    <dsp:sp modelId="{407C02CB-1259-48E7-A904-E0D4B78EEE0E}">
      <dsp:nvSpPr>
        <dsp:cNvPr id="0" name=""/>
        <dsp:cNvSpPr/>
      </dsp:nvSpPr>
      <dsp:spPr>
        <a:xfrm>
          <a:off x="8651283" y="1100064"/>
          <a:ext cx="1568186" cy="940911"/>
        </a:xfrm>
        <a:prstGeom prst="roundRect">
          <a:avLst>
            <a:gd name="adj" fmla="val 10000"/>
          </a:avLst>
        </a:prstGeom>
        <a:solidFill>
          <a:schemeClr val="accent2">
            <a:shade val="80000"/>
            <a:hueOff val="16578"/>
            <a:satOff val="829"/>
            <a:lumOff val="9376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 dirty="0"/>
            <a:t>Download Output</a:t>
          </a:r>
        </a:p>
      </dsp:txBody>
      <dsp:txXfrm>
        <a:off x="8678841" y="1127622"/>
        <a:ext cx="1513070" cy="885795"/>
      </dsp:txXfrm>
    </dsp:sp>
    <dsp:sp modelId="{B9FD71E8-14F4-43AB-95F6-28E55AF2131B}">
      <dsp:nvSpPr>
        <dsp:cNvPr id="0" name=""/>
        <dsp:cNvSpPr/>
      </dsp:nvSpPr>
      <dsp:spPr>
        <a:xfrm rot="10767401" flipH="1">
          <a:off x="8307113" y="1366229"/>
          <a:ext cx="181933" cy="388910"/>
        </a:xfrm>
        <a:prstGeom prst="rightArrow">
          <a:avLst>
            <a:gd name="adj1" fmla="val 60000"/>
            <a:gd name="adj2" fmla="val 50000"/>
          </a:avLst>
        </a:prstGeom>
        <a:solidFill>
          <a:schemeClr val="accent2">
            <a:shade val="90000"/>
            <a:hueOff val="22081"/>
            <a:satOff val="13"/>
            <a:lumOff val="10319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500" kern="1200"/>
        </a:p>
      </dsp:txBody>
      <dsp:txXfrm rot="10800000">
        <a:off x="8307114" y="1444270"/>
        <a:ext cx="127353" cy="233346"/>
      </dsp:txXfrm>
    </dsp:sp>
    <dsp:sp modelId="{7A8F32AB-1280-4F5C-8174-0B38CFAA68F5}">
      <dsp:nvSpPr>
        <dsp:cNvPr id="0" name=""/>
        <dsp:cNvSpPr/>
      </dsp:nvSpPr>
      <dsp:spPr>
        <a:xfrm>
          <a:off x="6591440" y="1080531"/>
          <a:ext cx="1568186" cy="940911"/>
        </a:xfrm>
        <a:prstGeom prst="roundRect">
          <a:avLst>
            <a:gd name="adj" fmla="val 10000"/>
          </a:avLst>
        </a:prstGeom>
        <a:solidFill>
          <a:schemeClr val="accent2">
            <a:shade val="80000"/>
            <a:hueOff val="24868"/>
            <a:satOff val="1244"/>
            <a:lumOff val="14063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Visualization</a:t>
          </a:r>
        </a:p>
      </dsp:txBody>
      <dsp:txXfrm>
        <a:off x="6618998" y="1108089"/>
        <a:ext cx="1513070" cy="885795"/>
      </dsp:txXfrm>
    </dsp:sp>
    <dsp:sp modelId="{1922C30D-8AF5-4448-B622-E24230C354EA}">
      <dsp:nvSpPr>
        <dsp:cNvPr id="0" name=""/>
        <dsp:cNvSpPr/>
      </dsp:nvSpPr>
      <dsp:spPr>
        <a:xfrm rot="10854132" flipH="1">
          <a:off x="6218662" y="1384931"/>
          <a:ext cx="260073" cy="421905"/>
        </a:xfrm>
        <a:prstGeom prst="rightArrow">
          <a:avLst>
            <a:gd name="adj1" fmla="val 60000"/>
            <a:gd name="adj2" fmla="val 50000"/>
          </a:avLst>
        </a:prstGeom>
        <a:solidFill>
          <a:schemeClr val="accent2">
            <a:shade val="90000"/>
            <a:hueOff val="33122"/>
            <a:satOff val="19"/>
            <a:lumOff val="15479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500" kern="1200"/>
        </a:p>
      </dsp:txBody>
      <dsp:txXfrm rot="10800000">
        <a:off x="6218667" y="1468698"/>
        <a:ext cx="182051" cy="253143"/>
      </dsp:txXfrm>
    </dsp:sp>
    <dsp:sp modelId="{78479C55-CDD2-4B19-A0C3-BD2939FBCFB2}">
      <dsp:nvSpPr>
        <dsp:cNvPr id="0" name=""/>
        <dsp:cNvSpPr/>
      </dsp:nvSpPr>
      <dsp:spPr>
        <a:xfrm>
          <a:off x="4479316" y="1133100"/>
          <a:ext cx="1568186" cy="902296"/>
        </a:xfrm>
        <a:prstGeom prst="roundRect">
          <a:avLst>
            <a:gd name="adj" fmla="val 10000"/>
          </a:avLst>
        </a:prstGeom>
        <a:solidFill>
          <a:schemeClr val="accent2">
            <a:shade val="80000"/>
            <a:hueOff val="33157"/>
            <a:satOff val="1658"/>
            <a:lumOff val="18751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 dirty="0"/>
            <a:t>Model Prediction</a:t>
          </a:r>
        </a:p>
      </dsp:txBody>
      <dsp:txXfrm>
        <a:off x="4505743" y="1159527"/>
        <a:ext cx="1515332" cy="849442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process1">
  <dgm:title val=""/>
  <dgm:desc val=""/>
  <dgm:catLst>
    <dgm:cat type="process" pri="1000"/>
    <dgm:cat type="convert" pri="15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h" for="ch" ptType="node" op="equ"/>
      <dgm:constr type="primFontSz" for="ch" ptType="node" op="equ" val="65"/>
      <dgm:constr type="w" for="ch" ptType="sibTrans" refType="w" refFor="ch" refPtType="node" op="equ" fact="0.4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h" val="NaN" fact="1.5" max="NaN"/>
          <dgm:rule type="primFontSz" val="5" fact="NaN" max="NaN"/>
          <dgm:rule type="h" val="INF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  <dgm:constr type="begPad" refType="connDist" fact="0.25"/>
            <dgm:constr type="endPad" refType="connDist" fact="0.22"/>
          </dgm:constrLst>
          <dgm:ruleLst/>
          <dgm:layoutNode name="connectorText">
            <dgm:alg type="tx">
              <dgm:param type="autoTxRot" val="grav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 bwMode="blackWhite">
          <a:xfrm>
            <a:off x="1600200" y="2386744"/>
            <a:ext cx="8991600" cy="1645920"/>
          </a:xfrm>
          <a:solidFill>
            <a:srgbClr val="FFFFFF"/>
          </a:solidFill>
          <a:ln w="38100">
            <a:solidFill>
              <a:srgbClr val="404040"/>
            </a:solidFill>
          </a:ln>
        </p:spPr>
        <p:txBody>
          <a:bodyPr lIns="274320" rIns="274320" anchor="ctr" anchorCtr="1">
            <a:normAutofit/>
          </a:bodyPr>
          <a:lstStyle>
            <a:lvl1pPr algn="ctr">
              <a:defRPr sz="3800">
                <a:solidFill>
                  <a:srgbClr val="26262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95194" y="4352544"/>
            <a:ext cx="6801612" cy="1239894"/>
          </a:xfrm>
          <a:noFill/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08F4BB-F4A6-4532-8701-73024C0B5854}" type="datetimeFigureOut">
              <a:rPr lang="en-US" smtClean="0"/>
              <a:t>6/12/2026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DE862C-EE3F-4A46-947E-6073E07980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757956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08F4BB-F4A6-4532-8701-73024C0B5854}" type="datetimeFigureOut">
              <a:rPr lang="en-US" smtClean="0"/>
              <a:t>6/12/2026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DE862C-EE3F-4A46-947E-6073E07980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890455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1600200" y="2386744"/>
            <a:ext cx="8991600" cy="1645920"/>
          </a:xfrm>
          <a:solidFill>
            <a:srgbClr val="FFFFFF"/>
          </a:solidFill>
          <a:ln w="38100">
            <a:solidFill>
              <a:srgbClr val="404040"/>
            </a:solidFill>
          </a:ln>
        </p:spPr>
        <p:txBody>
          <a:bodyPr lIns="274320" rIns="274320" anchor="ctr" anchorCtr="1">
            <a:normAutofit/>
          </a:bodyPr>
          <a:lstStyle>
            <a:lvl1pPr>
              <a:defRPr sz="3800">
                <a:solidFill>
                  <a:srgbClr val="26262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695194" y="4352465"/>
            <a:ext cx="6801612" cy="1265082"/>
          </a:xfrm>
        </p:spPr>
        <p:txBody>
          <a:bodyPr anchor="t" anchorCtr="1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08F4BB-F4A6-4532-8701-73024C0B5854}" type="datetimeFigureOut">
              <a:rPr lang="en-US" smtClean="0"/>
              <a:t>6/12/2026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DE862C-EE3F-4A46-947E-6073E07980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248772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581912" y="2638044"/>
            <a:ext cx="4271771" cy="310198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38315" y="2638044"/>
            <a:ext cx="4270247" cy="310198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08F4BB-F4A6-4532-8701-73024C0B5854}" type="datetimeFigureOut">
              <a:rPr lang="en-US" smtClean="0"/>
              <a:t>6/12/2026</a:t>
            </a:fld>
            <a:endParaRPr lang="en-US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DE862C-EE3F-4A46-947E-6073E07980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109483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83436" y="2313433"/>
            <a:ext cx="4270248" cy="704087"/>
          </a:xfrm>
        </p:spPr>
        <p:txBody>
          <a:bodyPr anchor="b" anchorCtr="1">
            <a:normAutofit/>
          </a:bodyPr>
          <a:lstStyle>
            <a:lvl1pPr marL="0" indent="0" algn="ctr">
              <a:buNone/>
              <a:defRPr sz="1900" b="0" cap="all" spc="100" baseline="0">
                <a:solidFill>
                  <a:schemeClr val="accent2">
                    <a:lumMod val="75000"/>
                  </a:schemeClr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583436" y="3143250"/>
            <a:ext cx="4270248" cy="259677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38316" y="3143250"/>
            <a:ext cx="4253484" cy="2596776"/>
          </a:xfrm>
        </p:spPr>
        <p:txBody>
          <a:bodyPr/>
          <a:lstStyle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6338316" y="2313433"/>
            <a:ext cx="4270248" cy="704087"/>
          </a:xfrm>
        </p:spPr>
        <p:txBody>
          <a:bodyPr anchor="b" anchorCtr="1">
            <a:normAutofit/>
          </a:bodyPr>
          <a:lstStyle>
            <a:lvl1pPr marL="0" indent="0" algn="ctr">
              <a:buNone/>
              <a:defRPr sz="1900" b="0" cap="all" spc="100" baseline="0">
                <a:solidFill>
                  <a:schemeClr val="accent2">
                    <a:lumMod val="75000"/>
                  </a:schemeClr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08F4BB-F4A6-4532-8701-73024C0B5854}" type="datetimeFigureOut">
              <a:rPr lang="en-US" smtClean="0"/>
              <a:t>6/12/2026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DE862C-EE3F-4A46-947E-6073E07980F0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7447400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08F4BB-F4A6-4532-8701-73024C0B5854}" type="datetimeFigureOut">
              <a:rPr lang="en-US" smtClean="0"/>
              <a:t>6/12/2026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DE862C-EE3F-4A46-947E-6073E07980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81988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08F4BB-F4A6-4532-8701-73024C0B5854}" type="datetimeFigureOut">
              <a:rPr lang="en-US" smtClean="0"/>
              <a:t>6/12/2026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DE862C-EE3F-4A46-947E-6073E07980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952161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25"/>
          <p:cNvSpPr/>
          <p:nvPr/>
        </p:nvSpPr>
        <p:spPr>
          <a:xfrm>
            <a:off x="0" y="0"/>
            <a:ext cx="6096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804672" y="2243828"/>
            <a:ext cx="4486656" cy="1141497"/>
          </a:xfrm>
          <a:solidFill>
            <a:srgbClr val="FFFFFF"/>
          </a:solidFill>
          <a:ln>
            <a:solidFill>
              <a:srgbClr val="404040"/>
            </a:solidFill>
          </a:ln>
        </p:spPr>
        <p:txBody>
          <a:bodyPr anchor="ctr" anchorCtr="1">
            <a:normAutofit/>
          </a:bodyPr>
          <a:lstStyle>
            <a:lvl1pPr>
              <a:defRPr sz="2200">
                <a:solidFill>
                  <a:srgbClr val="26262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36080" y="804672"/>
            <a:ext cx="4815840" cy="5248656"/>
          </a:xfrm>
        </p:spPr>
        <p:txBody>
          <a:bodyPr>
            <a:normAutofit/>
          </a:bodyPr>
          <a:lstStyle>
            <a:lvl1pPr>
              <a:defRPr sz="1900">
                <a:solidFill>
                  <a:schemeClr val="tx1"/>
                </a:solidFill>
              </a:defRPr>
            </a:lvl1pPr>
            <a:lvl2pPr>
              <a:defRPr sz="1600">
                <a:solidFill>
                  <a:schemeClr val="tx1"/>
                </a:solidFill>
              </a:defRPr>
            </a:lvl2pPr>
            <a:lvl3pPr>
              <a:defRPr sz="1600">
                <a:solidFill>
                  <a:schemeClr val="tx1"/>
                </a:solidFill>
              </a:defRPr>
            </a:lvl3pPr>
            <a:lvl4pPr>
              <a:defRPr sz="1600">
                <a:solidFill>
                  <a:schemeClr val="tx1"/>
                </a:solidFill>
              </a:defRPr>
            </a:lvl4pPr>
            <a:lvl5pPr>
              <a:defRPr sz="1600">
                <a:solidFill>
                  <a:schemeClr val="tx1"/>
                </a:solidFill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5568" y="3549918"/>
            <a:ext cx="3794760" cy="2194036"/>
          </a:xfrm>
        </p:spPr>
        <p:txBody>
          <a:bodyPr anchor="t" anchorCtr="1">
            <a:normAutofit/>
          </a:bodyPr>
          <a:lstStyle>
            <a:lvl1pPr marL="0" indent="0" algn="ctr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Date Placeholder 8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08F4BB-F4A6-4532-8701-73024C0B5854}" type="datetimeFigureOut">
              <a:rPr lang="en-US" smtClean="0"/>
              <a:t>6/12/2026</a:t>
            </a:fld>
            <a:endParaRPr lang="en-US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1"/>
          </p:nvPr>
        </p:nvSpPr>
        <p:spPr>
          <a:xfrm>
            <a:off x="804672" y="6236208"/>
            <a:ext cx="5124797" cy="320040"/>
          </a:xfrm>
        </p:spPr>
        <p:txBody>
          <a:bodyPr/>
          <a:lstStyle>
            <a:lvl1pPr>
              <a:defRPr>
                <a:solidFill>
                  <a:srgbClr val="FFFFFF">
                    <a:alpha val="70000"/>
                  </a:srgbClr>
                </a:solidFill>
              </a:defRPr>
            </a:lvl1pPr>
          </a:lstStyle>
          <a:p>
            <a:endParaRPr lang="en-US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DE862C-EE3F-4A46-947E-6073E07980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05068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/>
          <p:cNvSpPr/>
          <p:nvPr/>
        </p:nvSpPr>
        <p:spPr>
          <a:xfrm>
            <a:off x="0" y="0"/>
            <a:ext cx="6095999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808523" y="2243828"/>
            <a:ext cx="4494998" cy="1134640"/>
          </a:xfrm>
          <a:solidFill>
            <a:srgbClr val="FFFFFF"/>
          </a:solidFill>
          <a:ln>
            <a:solidFill>
              <a:srgbClr val="404040"/>
            </a:solidFill>
          </a:ln>
        </p:spPr>
        <p:txBody>
          <a:bodyPr anchor="ctr" anchorCtr="1">
            <a:noAutofit/>
          </a:bodyPr>
          <a:lstStyle>
            <a:lvl1pPr>
              <a:defRPr sz="2200">
                <a:solidFill>
                  <a:srgbClr val="26262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095999" y="0"/>
            <a:ext cx="6102097" cy="6858000"/>
          </a:xfrm>
          <a:solidFill>
            <a:schemeClr val="bg1">
              <a:lumMod val="75000"/>
            </a:schemeClr>
          </a:solidFill>
        </p:spPr>
        <p:txBody>
          <a:bodyPr anchor="t"/>
          <a:lstStyle>
            <a:lvl1pPr marL="0" indent="0">
              <a:buNone/>
              <a:defRPr sz="3200">
                <a:solidFill>
                  <a:schemeClr val="bg1">
                    <a:lumMod val="85000"/>
                    <a:lumOff val="15000"/>
                  </a:schemeClr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5568" y="3549918"/>
            <a:ext cx="3794760" cy="2194037"/>
          </a:xfrm>
        </p:spPr>
        <p:txBody>
          <a:bodyPr anchor="t" anchorCtr="1">
            <a:normAutofit/>
          </a:bodyPr>
          <a:lstStyle>
            <a:lvl1pPr marL="0" indent="0" algn="ctr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  <a:effectLst>
                  <a:outerShdw blurRad="50800" dist="38100" dir="2700000" algn="tl" rotWithShape="0">
                    <a:prstClr val="black">
                      <a:alpha val="43000"/>
                    </a:prstClr>
                  </a:outerShdw>
                </a:effectLst>
              </a:defRPr>
            </a:lvl1pPr>
          </a:lstStyle>
          <a:p>
            <a:fld id="{2708F4BB-F4A6-4532-8701-73024C0B5854}" type="datetimeFigureOut">
              <a:rPr lang="en-US" smtClean="0"/>
              <a:t>6/12/2026</a:t>
            </a:fld>
            <a:endParaRPr lang="en-US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>
          <a:xfrm>
            <a:off x="804672" y="6236208"/>
            <a:ext cx="5124797" cy="320040"/>
          </a:xfrm>
        </p:spPr>
        <p:txBody>
          <a:bodyPr/>
          <a:lstStyle>
            <a:lvl1pPr>
              <a:defRPr>
                <a:solidFill>
                  <a:srgbClr val="FFFFFF">
                    <a:alpha val="70000"/>
                  </a:srgbClr>
                </a:solidFill>
              </a:defRPr>
            </a:lvl1pPr>
          </a:lstStyle>
          <a:p>
            <a:endParaRPr lang="en-US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DE862C-EE3F-4A46-947E-6073E07980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779336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08F4BB-F4A6-4532-8701-73024C0B5854}" type="datetimeFigureOut">
              <a:rPr lang="en-US" smtClean="0"/>
              <a:t>6/12/2026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DE862C-EE3F-4A46-947E-6073E07980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044207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53112" y="937260"/>
            <a:ext cx="1298608" cy="498348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231136" y="937260"/>
            <a:ext cx="6198489" cy="498348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08F4BB-F4A6-4532-8701-73024C0B5854}" type="datetimeFigureOut">
              <a:rPr lang="en-US" smtClean="0"/>
              <a:t>6/12/2026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DE862C-EE3F-4A46-947E-6073E07980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305043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black">
          <a:xfrm>
            <a:off x="2231136" y="964692"/>
            <a:ext cx="7729728" cy="1188720"/>
          </a:xfrm>
          <a:prstGeom prst="rect">
            <a:avLst/>
          </a:prstGeom>
          <a:solidFill>
            <a:srgbClr val="FFFFFF"/>
          </a:solidFill>
          <a:ln w="31750" cap="sq">
            <a:solidFill>
              <a:srgbClr val="404040"/>
            </a:solidFill>
            <a:miter lim="800000"/>
          </a:ln>
        </p:spPr>
        <p:txBody>
          <a:bodyPr vert="horz" lIns="182880" tIns="182880" rIns="182880" bIns="18288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31136" y="2638044"/>
            <a:ext cx="7729728" cy="310198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821429" y="6238816"/>
            <a:ext cx="2753746" cy="32396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alpha val="70000"/>
                  </a:schemeClr>
                </a:solidFill>
              </a:defRPr>
            </a:lvl1pPr>
          </a:lstStyle>
          <a:p>
            <a:fld id="{2708F4BB-F4A6-4532-8701-73024C0B5854}" type="datetimeFigureOut">
              <a:rPr lang="en-US" smtClean="0"/>
              <a:t>6/12/2026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600200" y="6236208"/>
            <a:ext cx="5901189" cy="3200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alpha val="7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758922" y="6217920"/>
            <a:ext cx="365760" cy="365760"/>
          </a:xfrm>
          <a:prstGeom prst="ellipse">
            <a:avLst/>
          </a:prstGeom>
          <a:solidFill>
            <a:srgbClr val="1D1D1D">
              <a:alpha val="70000"/>
            </a:srgbClr>
          </a:solidFill>
        </p:spPr>
        <p:txBody>
          <a:bodyPr vert="horz" lIns="18288" tIns="45720" rIns="18288" bIns="45720" rtlCol="0" anchor="ctr">
            <a:noAutofit/>
          </a:bodyPr>
          <a:lstStyle>
            <a:lvl1pPr algn="ctr">
              <a:defRPr sz="1100" spc="0" baseline="0">
                <a:solidFill>
                  <a:srgbClr val="FFFFFF"/>
                </a:solidFill>
              </a:defRPr>
            </a:lvl1pPr>
          </a:lstStyle>
          <a:p>
            <a:fld id="{A6DE862C-EE3F-4A46-947E-6073E07980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51116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71" r:id="rId1"/>
    <p:sldLayoutId id="2147483872" r:id="rId2"/>
    <p:sldLayoutId id="2147483873" r:id="rId3"/>
    <p:sldLayoutId id="2147483874" r:id="rId4"/>
    <p:sldLayoutId id="2147483875" r:id="rId5"/>
    <p:sldLayoutId id="2147483876" r:id="rId6"/>
    <p:sldLayoutId id="2147483877" r:id="rId7"/>
    <p:sldLayoutId id="2147483878" r:id="rId8"/>
    <p:sldLayoutId id="2147483879" r:id="rId9"/>
    <p:sldLayoutId id="2147483880" r:id="rId10"/>
    <p:sldLayoutId id="2147483881" r:id="rId11"/>
  </p:sldLayoutIdLst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2800" kern="1200" cap="all" spc="200" baseline="0">
          <a:solidFill>
            <a:srgbClr val="262626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9144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11430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1312863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1484313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165735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1882775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C6628C-667F-FA47-0D1B-87FB6EA318F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" y="970670"/>
            <a:ext cx="12192000" cy="1547447"/>
          </a:xfrm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</p:spPr>
        <p:txBody>
          <a:bodyPr>
            <a:normAutofit fontScale="90000"/>
          </a:bodyPr>
          <a:lstStyle/>
          <a:p>
            <a:r>
              <a:rPr lang="en-US" sz="6000" dirty="0">
                <a:solidFill>
                  <a:schemeClr val="bg1"/>
                </a:solidFill>
                <a:latin typeface="Bodoni MT" panose="02070603080606020203" pitchFamily="18" charset="0"/>
              </a:rPr>
              <a:t>Rossmann Sales Prediction Dashboard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15C33E1-69B4-A13C-8B5B-934A0724702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68811" y="2743200"/>
            <a:ext cx="11648051" cy="2364008"/>
          </a:xfrm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</p:spPr>
        <p:txBody>
          <a:bodyPr>
            <a:noAutofit/>
          </a:bodyPr>
          <a:lstStyle/>
          <a:p>
            <a:r>
              <a:rPr lang="en-US" sz="3600" dirty="0">
                <a:solidFill>
                  <a:schemeClr val="tx1"/>
                </a:solidFill>
                <a:latin typeface="Bodoni MT" panose="02070603080606020203" pitchFamily="18" charset="0"/>
              </a:rPr>
              <a:t>      AI-Powered Time Series Forecasting System</a:t>
            </a:r>
          </a:p>
          <a:p>
            <a:endParaRPr lang="en-US" sz="3600" dirty="0">
              <a:solidFill>
                <a:schemeClr val="tx1"/>
              </a:solidFill>
              <a:latin typeface="Bodoni MT" panose="02070603080606020203" pitchFamily="18" charset="0"/>
            </a:endParaRPr>
          </a:p>
          <a:p>
            <a:r>
              <a:rPr lang="en-US" sz="3600" dirty="0">
                <a:solidFill>
                  <a:schemeClr val="tx1"/>
                </a:solidFill>
                <a:latin typeface="Bodoni MT" panose="02070603080606020203" pitchFamily="18" charset="0"/>
              </a:rPr>
              <a:t>				                                     by -Ankita Babar</a:t>
            </a:r>
          </a:p>
        </p:txBody>
      </p:sp>
    </p:spTree>
    <p:extLst>
      <p:ext uri="{BB962C8B-B14F-4D97-AF65-F5344CB8AC3E}">
        <p14:creationId xmlns:p14="http://schemas.microsoft.com/office/powerpoint/2010/main" val="376760327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EA310695-21D9-B356-5A6D-C398496748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5044" y="960804"/>
            <a:ext cx="5646772" cy="943590"/>
          </a:xfrm>
        </p:spPr>
        <p:txBody>
          <a:bodyPr>
            <a:noAutofit/>
          </a:bodyPr>
          <a:lstStyle/>
          <a:p>
            <a:r>
              <a:rPr lang="en-US" dirty="0">
                <a:latin typeface="Arial Black" panose="020B0A04020102020204" pitchFamily="34" charset="0"/>
              </a:rPr>
              <a:t>Problem Background:-</a:t>
            </a:r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6E015B22-75F4-E7EB-E5BA-FD43676BAA2A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2737573" y="2213590"/>
            <a:ext cx="8440131" cy="34163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Retail companies struggle to predict future sales accurately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Store managers rely on experience → leads to errors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External factors impact sales: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Promotions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Holidays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Competition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Seasonality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6000293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2D3286-51F9-5B33-9BCE-9DE1FBCCA9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77824" y="908421"/>
            <a:ext cx="6026600" cy="1188720"/>
          </a:xfrm>
        </p:spPr>
        <p:txBody>
          <a:bodyPr/>
          <a:lstStyle/>
          <a:p>
            <a:r>
              <a:rPr lang="en-US" dirty="0">
                <a:latin typeface="Arial Black" panose="020B0A04020102020204" pitchFamily="34" charset="0"/>
              </a:rPr>
              <a:t>Problem Statement:-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8CBFC8C6-FA03-2463-0FAD-E99F48EF1967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3947395" y="2396265"/>
            <a:ext cx="5914058" cy="23083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Predict daily sales for multiple stores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Forecast up to 6 weeks ahead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Build an automated system for managers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Reduce dependency on manual estimation </a:t>
            </a:r>
          </a:p>
        </p:txBody>
      </p:sp>
    </p:spTree>
    <p:extLst>
      <p:ext uri="{BB962C8B-B14F-4D97-AF65-F5344CB8AC3E}">
        <p14:creationId xmlns:p14="http://schemas.microsoft.com/office/powerpoint/2010/main" val="111011529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9C4CA7-8458-F3F4-BF88-F3683EAE97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58938" y="964692"/>
            <a:ext cx="3311535" cy="1188720"/>
          </a:xfrm>
        </p:spPr>
        <p:txBody>
          <a:bodyPr>
            <a:normAutofit/>
          </a:bodyPr>
          <a:lstStyle/>
          <a:p>
            <a:r>
              <a:rPr lang="en-US" dirty="0">
                <a:latin typeface="Arial Black" panose="020B0A04020102020204" pitchFamily="34" charset="0"/>
              </a:rPr>
              <a:t>Objective:-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8F71C77D-C4DF-F5FA-84CD-888384FC3DD0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3131468" y="2459504"/>
            <a:ext cx="6490879" cy="193899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Build end-to-end ML + DL system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Analyze customer behavior patterns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Predict sales using LSTM model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Deploy interactive dashboard using Streamlit </a:t>
            </a:r>
          </a:p>
        </p:txBody>
      </p:sp>
    </p:spTree>
    <p:extLst>
      <p:ext uri="{BB962C8B-B14F-4D97-AF65-F5344CB8AC3E}">
        <p14:creationId xmlns:p14="http://schemas.microsoft.com/office/powerpoint/2010/main" val="381902603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E37579-66C7-A6BA-D483-0CEB6315BF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3007" y="894354"/>
            <a:ext cx="4929319" cy="1188720"/>
          </a:xfrm>
        </p:spPr>
        <p:txBody>
          <a:bodyPr>
            <a:normAutofit/>
          </a:bodyPr>
          <a:lstStyle/>
          <a:p>
            <a:r>
              <a:rPr lang="en-US" dirty="0">
                <a:latin typeface="Arial Black" panose="020B0A04020102020204" pitchFamily="34" charset="0"/>
              </a:rPr>
              <a:t>Dataset Overview:-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8826E83-FB04-F6BD-7C46-31EC46071B0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08645" y="2623976"/>
            <a:ext cx="9374710" cy="3101983"/>
          </a:xfrm>
        </p:spPr>
        <p:txBody>
          <a:bodyPr numCol="2">
            <a:noAutofit/>
          </a:bodyPr>
          <a:lstStyle/>
          <a:p>
            <a:pPr>
              <a:buClr>
                <a:schemeClr val="tx1"/>
              </a:buClr>
            </a:pPr>
            <a:r>
              <a:rPr lang="en-US" sz="2400" b="1" dirty="0"/>
              <a:t>Rossmann Store Sales Dataset   </a:t>
            </a:r>
            <a:endParaRPr lang="en-US" sz="2400" dirty="0"/>
          </a:p>
          <a:p>
            <a:pPr>
              <a:buClr>
                <a:schemeClr val="tx1"/>
              </a:buClr>
            </a:pPr>
            <a:r>
              <a:rPr lang="en-US" sz="2400" dirty="0"/>
              <a:t>Features:</a:t>
            </a:r>
          </a:p>
          <a:p>
            <a:pPr>
              <a:buClr>
                <a:schemeClr val="tx1"/>
              </a:buClr>
            </a:pPr>
            <a:r>
              <a:rPr lang="en-US" sz="2400" dirty="0"/>
              <a:t>Store ID </a:t>
            </a:r>
          </a:p>
          <a:p>
            <a:pPr>
              <a:buClr>
                <a:schemeClr val="tx1"/>
              </a:buClr>
            </a:pPr>
            <a:r>
              <a:rPr lang="en-US" sz="2400" dirty="0"/>
              <a:t>Sales (Target) </a:t>
            </a:r>
          </a:p>
          <a:p>
            <a:pPr>
              <a:buClr>
                <a:schemeClr val="tx1"/>
              </a:buClr>
            </a:pPr>
            <a:r>
              <a:rPr lang="en-US" sz="2400" dirty="0"/>
              <a:t>Customers </a:t>
            </a:r>
          </a:p>
          <a:p>
            <a:pPr>
              <a:buClr>
                <a:schemeClr val="tx1"/>
              </a:buClr>
            </a:pPr>
            <a:r>
              <a:rPr lang="en-US" sz="2400" dirty="0"/>
              <a:t>Promo</a:t>
            </a:r>
          </a:p>
          <a:p>
            <a:pPr>
              <a:buClr>
                <a:schemeClr val="tx1"/>
              </a:buClr>
            </a:pPr>
            <a:r>
              <a:rPr lang="en-US" sz="2400" dirty="0"/>
              <a:t>Open/Close status </a:t>
            </a:r>
          </a:p>
          <a:p>
            <a:pPr>
              <a:buClr>
                <a:schemeClr val="tx1"/>
              </a:buClr>
            </a:pPr>
            <a:r>
              <a:rPr lang="en-US" sz="2400" dirty="0"/>
              <a:t>Holiday indicators </a:t>
            </a:r>
          </a:p>
          <a:p>
            <a:pPr>
              <a:buClr>
                <a:schemeClr val="tx1"/>
              </a:buClr>
            </a:pPr>
            <a:r>
              <a:rPr lang="en-US" sz="2400" dirty="0"/>
              <a:t>Competition details </a:t>
            </a:r>
          </a:p>
          <a:p>
            <a:pPr>
              <a:buClr>
                <a:schemeClr val="tx1"/>
              </a:buClr>
            </a:pPr>
            <a:r>
              <a:rPr lang="en-US" sz="2400" dirty="0"/>
              <a:t> Insight:</a:t>
            </a:r>
          </a:p>
          <a:p>
            <a:pPr>
              <a:buClr>
                <a:schemeClr val="tx1"/>
              </a:buClr>
            </a:pPr>
            <a:r>
              <a:rPr lang="en-US" sz="2400" dirty="0"/>
              <a:t>“Data includes time-series + business factors”</a:t>
            </a:r>
          </a:p>
          <a:p>
            <a:pPr>
              <a:buClr>
                <a:schemeClr val="tx1"/>
              </a:buClr>
            </a:pP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87188106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435592-632F-5887-1737-B90A610B14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35382" y="978760"/>
            <a:ext cx="4929319" cy="1188720"/>
          </a:xfrm>
        </p:spPr>
        <p:txBody>
          <a:bodyPr/>
          <a:lstStyle/>
          <a:p>
            <a:r>
              <a:rPr lang="en-US" dirty="0">
                <a:latin typeface="Arial Black" panose="020B0A04020102020204" pitchFamily="34" charset="0"/>
              </a:rPr>
              <a:t>Data Preprocessing:-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B33EEDF-49B2-703F-6388-9CBFF6B427E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500041" y="2609908"/>
            <a:ext cx="8418107" cy="3101983"/>
          </a:xfrm>
        </p:spPr>
        <p:txBody>
          <a:bodyPr>
            <a:noAutofit/>
          </a:bodyPr>
          <a:lstStyle/>
          <a:p>
            <a:pPr>
              <a:buClr>
                <a:schemeClr val="tx1"/>
              </a:buClr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Steps:</a:t>
            </a:r>
          </a:p>
          <a:p>
            <a:pPr>
              <a:buClr>
                <a:schemeClr val="tx1"/>
              </a:buClr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Missing value handling </a:t>
            </a:r>
          </a:p>
          <a:p>
            <a:pPr>
              <a:buClr>
                <a:schemeClr val="tx1"/>
              </a:buClr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Feature engineering: </a:t>
            </a:r>
          </a:p>
          <a:p>
            <a:pPr lvl="1">
              <a:buClr>
                <a:schemeClr val="tx1"/>
              </a:buClr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Weekday / Weekend </a:t>
            </a:r>
          </a:p>
          <a:p>
            <a:pPr lvl="1">
              <a:buClr>
                <a:schemeClr val="tx1"/>
              </a:buClr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Holiday impact </a:t>
            </a:r>
          </a:p>
          <a:p>
            <a:pPr lvl="1">
              <a:buClr>
                <a:schemeClr val="tx1"/>
              </a:buClr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Promo effect </a:t>
            </a:r>
          </a:p>
          <a:p>
            <a:pPr>
              <a:buClr>
                <a:schemeClr val="tx1"/>
              </a:buClr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Scaling using normalization </a:t>
            </a:r>
          </a:p>
          <a:p>
            <a:pPr>
              <a:buClr>
                <a:schemeClr val="tx1"/>
              </a:buClr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Sequence creation (7-day window for LSTM) </a:t>
            </a:r>
          </a:p>
          <a:p>
            <a:pPr>
              <a:buClr>
                <a:schemeClr val="tx1"/>
              </a:buClr>
            </a:pP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7903944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628A6F-7031-666D-44FC-36387836A2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9688" y="950624"/>
            <a:ext cx="6307953" cy="1188720"/>
          </a:xfrm>
        </p:spPr>
        <p:txBody>
          <a:bodyPr/>
          <a:lstStyle/>
          <a:p>
            <a:r>
              <a:rPr lang="en-US" dirty="0">
                <a:latin typeface="Arial Black" panose="020B0A04020102020204" pitchFamily="34" charset="0"/>
              </a:rPr>
              <a:t>Exploratory Data Analysis:-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5576969-225C-1029-DD7F-2C0651A57D3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03665" y="2525503"/>
            <a:ext cx="7729728" cy="3101983"/>
          </a:xfrm>
        </p:spPr>
        <p:txBody>
          <a:bodyPr>
            <a:noAutofit/>
          </a:bodyPr>
          <a:lstStyle/>
          <a:p>
            <a:pPr>
              <a:buClr>
                <a:schemeClr val="tx1"/>
              </a:buClr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Sales vary strongly with promotions </a:t>
            </a:r>
          </a:p>
          <a:p>
            <a:pPr>
              <a:buClr>
                <a:schemeClr val="tx1"/>
              </a:buClr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Holidays affect customer behavior </a:t>
            </a:r>
          </a:p>
          <a:p>
            <a:pPr>
              <a:buClr>
                <a:schemeClr val="tx1"/>
              </a:buClr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Weekends show different trends </a:t>
            </a:r>
          </a:p>
          <a:p>
            <a:pPr>
              <a:buClr>
                <a:schemeClr val="tx1"/>
              </a:buClr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Customer count strongly correlates with sales </a:t>
            </a:r>
          </a:p>
          <a:p>
            <a:pPr>
              <a:buClr>
                <a:schemeClr val="tx1"/>
              </a:buClr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Add graphs:</a:t>
            </a:r>
          </a:p>
          <a:p>
            <a:pPr>
              <a:buClr>
                <a:schemeClr val="tx1"/>
              </a:buClr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Sales vs Promo </a:t>
            </a:r>
          </a:p>
          <a:p>
            <a:pPr>
              <a:buClr>
                <a:schemeClr val="tx1"/>
              </a:buClr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Sales vs Holiday </a:t>
            </a:r>
          </a:p>
          <a:p>
            <a:pPr>
              <a:buClr>
                <a:schemeClr val="tx1"/>
              </a:buClr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Sales trend line</a:t>
            </a:r>
          </a:p>
          <a:p>
            <a:pPr>
              <a:buClr>
                <a:schemeClr val="tx1"/>
              </a:buClr>
            </a:pP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4848487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47E197-70B2-04FF-62CC-F89CF8AD4D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04195" y="977295"/>
            <a:ext cx="6167276" cy="1035439"/>
          </a:xfrm>
        </p:spPr>
        <p:txBody>
          <a:bodyPr>
            <a:noAutofit/>
          </a:bodyPr>
          <a:lstStyle/>
          <a:p>
            <a:r>
              <a:rPr lang="en-US" dirty="0">
                <a:latin typeface="Arial Black" panose="020B0A04020102020204" pitchFamily="34" charset="0"/>
              </a:rPr>
              <a:t>Machine Learning Model:-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B7DB3B5F-F754-377E-B0FD-574DEA755A84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3947394" y="2282289"/>
            <a:ext cx="6392359" cy="181588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Model: Random Forest Regressor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Used for baseline prediction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Captures feature importance </a:t>
            </a:r>
          </a:p>
        </p:txBody>
      </p:sp>
    </p:spTree>
    <p:extLst>
      <p:ext uri="{BB962C8B-B14F-4D97-AF65-F5344CB8AC3E}">
        <p14:creationId xmlns:p14="http://schemas.microsoft.com/office/powerpoint/2010/main" val="58170494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BB0F31-501B-CBAC-49DF-F1B28DBC09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33856" y="992827"/>
            <a:ext cx="6279818" cy="1188720"/>
          </a:xfrm>
        </p:spPr>
        <p:txBody>
          <a:bodyPr/>
          <a:lstStyle/>
          <a:p>
            <a:r>
              <a:rPr lang="en-US" dirty="0">
                <a:latin typeface="Arial Black" panose="020B0A04020102020204" pitchFamily="34" charset="0"/>
              </a:rPr>
              <a:t>Deep Learning Model :-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A0C86C-36FB-9BCD-AE61-9D5EE397C5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45536" y="2763190"/>
            <a:ext cx="7729728" cy="3101983"/>
          </a:xfrm>
        </p:spPr>
        <p:txBody>
          <a:bodyPr>
            <a:normAutofit/>
          </a:bodyPr>
          <a:lstStyle/>
          <a:p>
            <a:pPr>
              <a:buClr>
                <a:schemeClr val="tx1"/>
              </a:buClr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Model: LSTM (Long Short-Term Memory) </a:t>
            </a:r>
          </a:p>
          <a:p>
            <a:pPr>
              <a:buClr>
                <a:schemeClr val="tx1"/>
              </a:buClr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Designed for time-series forecasting </a:t>
            </a:r>
          </a:p>
          <a:p>
            <a:pPr>
              <a:buClr>
                <a:schemeClr val="tx1"/>
              </a:buClr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Captures sequential dependency </a:t>
            </a:r>
          </a:p>
          <a:p>
            <a:pPr>
              <a:buClr>
                <a:schemeClr val="tx1"/>
              </a:buClr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Architecture:</a:t>
            </a:r>
            <a:b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Input → LSTM Layer → Dense Layer → Output</a:t>
            </a:r>
          </a:p>
          <a:p>
            <a:pPr>
              <a:buClr>
                <a:schemeClr val="tx1"/>
              </a:buClr>
            </a:pP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8981047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9BE143-CEBA-3AF1-0BF0-482736581D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5044" y="739609"/>
            <a:ext cx="7729728" cy="1188720"/>
          </a:xfrm>
        </p:spPr>
        <p:txBody>
          <a:bodyPr>
            <a:normAutofit/>
          </a:bodyPr>
          <a:lstStyle/>
          <a:p>
            <a:r>
              <a:rPr lang="en-US" dirty="0">
                <a:latin typeface="Arial Black" panose="020B0A04020102020204" pitchFamily="34" charset="0"/>
              </a:rPr>
              <a:t>System Architecture (Flow):-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11BA36E9-C7DC-B59B-B342-4DAB2BA9CF2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79479437"/>
              </p:ext>
            </p:extLst>
          </p:nvPr>
        </p:nvGraphicFramePr>
        <p:xfrm>
          <a:off x="915927" y="2399274"/>
          <a:ext cx="10360146" cy="310197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21327527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B29A7E-5150-F5BF-FAEF-16555B2842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22840" y="964692"/>
            <a:ext cx="6279818" cy="1188720"/>
          </a:xfrm>
        </p:spPr>
        <p:txBody>
          <a:bodyPr/>
          <a:lstStyle/>
          <a:p>
            <a:r>
              <a:rPr lang="en-US" dirty="0">
                <a:latin typeface="Arial Black" panose="020B0A04020102020204" pitchFamily="34" charset="0"/>
              </a:rPr>
              <a:t>Streamlit Dashboard:-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15239C7-C945-DDC2-1BAD-754294413F5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96724" y="2581774"/>
            <a:ext cx="5393553" cy="3101983"/>
          </a:xfrm>
        </p:spPr>
        <p:txBody>
          <a:bodyPr>
            <a:normAutofit/>
          </a:bodyPr>
          <a:lstStyle/>
          <a:p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Features:</a:t>
            </a:r>
          </a:p>
          <a:p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CSV Upload </a:t>
            </a:r>
          </a:p>
          <a:p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Prediction Table </a:t>
            </a:r>
          </a:p>
          <a:p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Actual vs Predicted Graph </a:t>
            </a:r>
          </a:p>
          <a:p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Download CSV</a:t>
            </a:r>
          </a:p>
          <a:p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3924549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70B561-EAF1-7E7A-DA5A-4A49D9E70C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41819" y="908422"/>
            <a:ext cx="6251682" cy="1188720"/>
          </a:xfrm>
        </p:spPr>
        <p:txBody>
          <a:bodyPr/>
          <a:lstStyle/>
          <a:p>
            <a:r>
              <a:rPr lang="en-US" dirty="0">
                <a:latin typeface="Arial Black" panose="020B0A04020102020204" pitchFamily="34" charset="0"/>
              </a:rPr>
              <a:t>Performance Insight :-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47A3F267-C260-1AB5-CCCD-8C55E6A85BEC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4256883" y="2644170"/>
            <a:ext cx="5436938" cy="15696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Model captures general trend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Slight deviation due to scaling issue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Still effective for business forecasting </a:t>
            </a:r>
          </a:p>
        </p:txBody>
      </p:sp>
    </p:spTree>
    <p:extLst>
      <p:ext uri="{BB962C8B-B14F-4D97-AF65-F5344CB8AC3E}">
        <p14:creationId xmlns:p14="http://schemas.microsoft.com/office/powerpoint/2010/main" val="162447295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51283A-2FB8-B2F6-61E2-BA3EABD77B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31136" y="964692"/>
            <a:ext cx="3864864" cy="1188720"/>
          </a:xfrm>
        </p:spPr>
        <p:txBody>
          <a:bodyPr/>
          <a:lstStyle/>
          <a:p>
            <a:r>
              <a:rPr lang="en-US" dirty="0">
                <a:latin typeface="Arial Black" panose="020B0A04020102020204" pitchFamily="34" charset="0"/>
              </a:rPr>
              <a:t>Conclusion:-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8D362566-B272-D0E7-2844-1BB7B324FABF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4698140" y="2459504"/>
            <a:ext cx="5203669" cy="193899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Built end-to-end forecasting system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Integrated ML + DL + Web app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Helps retail decision making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Achieved functional deployment </a:t>
            </a:r>
          </a:p>
        </p:txBody>
      </p:sp>
    </p:spTree>
    <p:extLst>
      <p:ext uri="{BB962C8B-B14F-4D97-AF65-F5344CB8AC3E}">
        <p14:creationId xmlns:p14="http://schemas.microsoft.com/office/powerpoint/2010/main" val="173078418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EFC5DC-C163-A7D7-2130-6DF1055AA4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31136" y="2240280"/>
            <a:ext cx="7729728" cy="1188720"/>
          </a:xfrm>
        </p:spPr>
        <p:txBody>
          <a:bodyPr>
            <a:normAutofit/>
          </a:bodyPr>
          <a:lstStyle/>
          <a:p>
            <a:r>
              <a:rPr lang="en-US" sz="3200" dirty="0">
                <a:latin typeface="Arial Black" panose="020B0A04020102020204" pitchFamily="34" charset="0"/>
              </a:rPr>
              <a:t>Thank you!</a:t>
            </a:r>
          </a:p>
        </p:txBody>
      </p:sp>
    </p:spTree>
    <p:extLst>
      <p:ext uri="{BB962C8B-B14F-4D97-AF65-F5344CB8AC3E}">
        <p14:creationId xmlns:p14="http://schemas.microsoft.com/office/powerpoint/2010/main" val="4060882699"/>
      </p:ext>
    </p:extLst>
  </p:cSld>
  <p:clrMapOvr>
    <a:masterClrMapping/>
  </p:clrMapOvr>
</p:sld>
</file>

<file path=ppt/theme/theme1.xml><?xml version="1.0" encoding="utf-8"?>
<a:theme xmlns:a="http://schemas.openxmlformats.org/drawingml/2006/main" name="Parcel">
  <a:themeElements>
    <a:clrScheme name="Parcel">
      <a:dk1>
        <a:srgbClr val="000000"/>
      </a:dk1>
      <a:lt1>
        <a:srgbClr val="FFFFFF"/>
      </a:lt1>
      <a:dk2>
        <a:srgbClr val="4A5356"/>
      </a:dk2>
      <a:lt2>
        <a:srgbClr val="E8E3CE"/>
      </a:lt2>
      <a:accent1>
        <a:srgbClr val="F6A21D"/>
      </a:accent1>
      <a:accent2>
        <a:srgbClr val="9BAFB5"/>
      </a:accent2>
      <a:accent3>
        <a:srgbClr val="C96731"/>
      </a:accent3>
      <a:accent4>
        <a:srgbClr val="9CA383"/>
      </a:accent4>
      <a:accent5>
        <a:srgbClr val="87795D"/>
      </a:accent5>
      <a:accent6>
        <a:srgbClr val="A0988C"/>
      </a:accent6>
      <a:hlink>
        <a:srgbClr val="00B0F0"/>
      </a:hlink>
      <a:folHlink>
        <a:srgbClr val="738F97"/>
      </a:folHlink>
    </a:clrScheme>
    <a:fontScheme name="Parcel">
      <a:maj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Parcel">
      <a: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107000"/>
                <a:lumMod val="103000"/>
              </a:schemeClr>
            </a:gs>
            <a:gs pos="100000">
              <a:schemeClr val="phClr">
                <a:tint val="82000"/>
                <a:satMod val="109000"/>
                <a:lumMod val="103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7000"/>
                <a:satMod val="100000"/>
                <a:lumMod val="102000"/>
              </a:schemeClr>
            </a:gs>
            <a:gs pos="50000">
              <a:schemeClr val="phClr">
                <a:shade val="100000"/>
                <a:satMod val="103000"/>
                <a:lumMod val="100000"/>
              </a:schemeClr>
            </a:gs>
            <a:gs pos="100000">
              <a:schemeClr val="phClr">
                <a:shade val="93000"/>
                <a:satMod val="11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317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5880" dist="1524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brightRoom" dir="tl"/>
          </a:scene3d>
          <a:sp3d prstMaterial="dkEdge">
            <a:bevelT w="0" h="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7000"/>
                <a:shade val="100000"/>
                <a:satMod val="185000"/>
                <a:lumMod val="120000"/>
              </a:schemeClr>
            </a:gs>
            <a:gs pos="100000">
              <a:schemeClr val="phClr">
                <a:tint val="96000"/>
                <a:shade val="95000"/>
                <a:satMod val="215000"/>
                <a:lumMod val="80000"/>
              </a:schemeClr>
            </a:gs>
          </a:gsLst>
          <a:path path="circle">
            <a:fillToRect l="50000" t="55000" r="125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arcel" id="{8BEC4385-4EB9-4D53-BFB5-0EA123736B6D}" vid="{4DB32801-28C0-48B0-8C1D-A9A58613615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TM10001115[[fn=Parcel]]</Template>
  <TotalTime>178</TotalTime>
  <Words>314</Words>
  <Application>Microsoft Office PowerPoint</Application>
  <PresentationFormat>Widescreen</PresentationFormat>
  <Paragraphs>89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9" baseType="lpstr">
      <vt:lpstr>Arial</vt:lpstr>
      <vt:lpstr>Arial Black</vt:lpstr>
      <vt:lpstr>Bodoni MT</vt:lpstr>
      <vt:lpstr>Gill Sans MT</vt:lpstr>
      <vt:lpstr>Parcel</vt:lpstr>
      <vt:lpstr>Rossmann Sales Prediction Dashboard</vt:lpstr>
      <vt:lpstr>Problem Background:-</vt:lpstr>
      <vt:lpstr>Problem Statement:-</vt:lpstr>
      <vt:lpstr>Objective:-</vt:lpstr>
      <vt:lpstr>Dataset Overview:-</vt:lpstr>
      <vt:lpstr>Data Preprocessing:-</vt:lpstr>
      <vt:lpstr>Exploratory Data Analysis:-</vt:lpstr>
      <vt:lpstr>Machine Learning Model:-</vt:lpstr>
      <vt:lpstr>Deep Learning Model :-</vt:lpstr>
      <vt:lpstr>System Architecture (Flow):-</vt:lpstr>
      <vt:lpstr>Streamlit Dashboard:-</vt:lpstr>
      <vt:lpstr>Performance Insight :-</vt:lpstr>
      <vt:lpstr>Conclusion:-</vt:lpstr>
      <vt:lpstr>Thank you!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SHREE</dc:creator>
  <cp:lastModifiedBy>SHREE</cp:lastModifiedBy>
  <cp:revision>1</cp:revision>
  <dcterms:created xsi:type="dcterms:W3CDTF">2026-06-13T03:46:41Z</dcterms:created>
  <dcterms:modified xsi:type="dcterms:W3CDTF">2026-06-13T06:44:42Z</dcterms:modified>
</cp:coreProperties>
</file>